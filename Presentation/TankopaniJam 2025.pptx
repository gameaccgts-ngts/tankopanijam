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61" r:id="rId4"/>
    <p:sldId id="257" r:id="rId5"/>
    <p:sldId id="262" r:id="rId6"/>
    <p:sldId id="267" r:id="rId7"/>
    <p:sldId id="270" r:id="rId8"/>
    <p:sldId id="275" r:id="rId9"/>
    <p:sldId id="263" r:id="rId10"/>
    <p:sldId id="271" r:id="rId11"/>
    <p:sldId id="276" r:id="rId12"/>
    <p:sldId id="264" r:id="rId13"/>
    <p:sldId id="272" r:id="rId14"/>
    <p:sldId id="268" r:id="rId15"/>
    <p:sldId id="269" r:id="rId16"/>
    <p:sldId id="266" r:id="rId17"/>
    <p:sldId id="265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8DB"/>
    <a:srgbClr val="061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13" Type="http://schemas.openxmlformats.org/officeDocument/2006/relationships/slide" Target="slides/slide14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12" Type="http://schemas.openxmlformats.org/officeDocument/2006/relationships/slide" Target="slides/slide13.xml"/><Relationship Id="rId2" Type="http://schemas.openxmlformats.org/officeDocument/2006/relationships/slide" Target="slides/slide2.xml"/><Relationship Id="rId16" Type="http://schemas.openxmlformats.org/officeDocument/2006/relationships/slide" Target="slides/slide17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2.xml"/><Relationship Id="rId5" Type="http://schemas.openxmlformats.org/officeDocument/2006/relationships/slide" Target="slides/slide5.xml"/><Relationship Id="rId15" Type="http://schemas.openxmlformats.org/officeDocument/2006/relationships/slide" Target="slides/slide16.xml"/><Relationship Id="rId10" Type="http://schemas.openxmlformats.org/officeDocument/2006/relationships/slide" Target="slides/slide10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4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2578F-6CA6-4FE4-B96B-C239F1DBFAF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03EF1-E180-446C-84ED-DC0544C0F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39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ndwebdev/72-hours-1-game-a-first-timers-guide-to-game-jams-792617432290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amedevelopermarketing.com/what-is-a-game-jam/" TargetMode="External"/><Relationship Id="rId5" Type="http://schemas.openxmlformats.org/officeDocument/2006/relationships/hyperlink" Target="https://gamemaker.io/en/blog/what-is-a-game-jam" TargetMode="External"/><Relationship Id="rId4" Type="http://schemas.openxmlformats.org/officeDocument/2006/relationships/hyperlink" Target="https://globalgamejam.org/what-game-jam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ndwebdev/72-hours-1-game-a-first-timers-guide-to-game-jams-792617432290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amedevelopermarketing.com/what-is-a-game-jam/" TargetMode="External"/><Relationship Id="rId5" Type="http://schemas.openxmlformats.org/officeDocument/2006/relationships/hyperlink" Target="https://gamemaker.io/en/blog/what-is-a-game-jam" TargetMode="External"/><Relationship Id="rId4" Type="http://schemas.openxmlformats.org/officeDocument/2006/relationships/hyperlink" Target="https://globalgamejam.org/what-game-jam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ndwebdev/72-hours-1-game-a-first-timers-guide-to-game-jams-792617432290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amedevelopermarketing.com/what-is-a-game-jam/" TargetMode="External"/><Relationship Id="rId5" Type="http://schemas.openxmlformats.org/officeDocument/2006/relationships/hyperlink" Target="https://gamemaker.io/en/blog/what-is-a-game-jam" TargetMode="External"/><Relationship Id="rId4" Type="http://schemas.openxmlformats.org/officeDocument/2006/relationships/hyperlink" Target="https://globalgamejam.org/what-game-jam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72 Hours, 1 Game: A First-Timer’s Guide to Game Jams | by Andrew Lukes | Medium</a:t>
            </a:r>
            <a:endParaRPr lang="en-US" dirty="0"/>
          </a:p>
          <a:p>
            <a:r>
              <a:rPr lang="en-US" dirty="0">
                <a:hlinkClick r:id="rId4"/>
              </a:rPr>
              <a:t>What is a game jam? | Global Game Jam</a:t>
            </a:r>
            <a:endParaRPr lang="en-US" dirty="0"/>
          </a:p>
          <a:p>
            <a:r>
              <a:rPr lang="en-US" dirty="0">
                <a:hlinkClick r:id="rId5"/>
              </a:rPr>
              <a:t>Master Game Jams With This Definitive Guide | </a:t>
            </a:r>
            <a:r>
              <a:rPr lang="en-US" dirty="0" err="1">
                <a:hlinkClick r:id="rId5"/>
              </a:rPr>
              <a:t>GameMaker</a:t>
            </a:r>
            <a:endParaRPr lang="en-US" dirty="0"/>
          </a:p>
          <a:p>
            <a:r>
              <a:rPr lang="en-US" dirty="0">
                <a:hlinkClick r:id="rId6"/>
              </a:rPr>
              <a:t>Game Jams 101: What Is A Game Jam?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03EF1-E180-446C-84ED-DC0544C0FD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40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72 Hours, 1 Game: A First-Timer’s Guide to Game Jams | by Andrew Lukes | Medium</a:t>
            </a:r>
            <a:endParaRPr lang="en-US" dirty="0"/>
          </a:p>
          <a:p>
            <a:r>
              <a:rPr lang="en-US" dirty="0">
                <a:hlinkClick r:id="rId4"/>
              </a:rPr>
              <a:t>What is a game jam? | Global Game Jam</a:t>
            </a:r>
            <a:endParaRPr lang="en-US" dirty="0"/>
          </a:p>
          <a:p>
            <a:r>
              <a:rPr lang="en-US" dirty="0">
                <a:hlinkClick r:id="rId5"/>
              </a:rPr>
              <a:t>Master Game Jams With This Definitive Guide | </a:t>
            </a:r>
            <a:r>
              <a:rPr lang="en-US" dirty="0" err="1">
                <a:hlinkClick r:id="rId5"/>
              </a:rPr>
              <a:t>GameMaker</a:t>
            </a:r>
            <a:endParaRPr lang="en-US" dirty="0"/>
          </a:p>
          <a:p>
            <a:r>
              <a:rPr lang="en-US" dirty="0">
                <a:hlinkClick r:id="rId6"/>
              </a:rPr>
              <a:t>Game Jams 101: What Is A Game Jam?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03EF1-E180-446C-84ED-DC0544C0FD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9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72 Hours, 1 Game: A First-Timer’s Guide to Game Jams | by Andrew Lukes | Medium</a:t>
            </a:r>
            <a:endParaRPr lang="en-US" dirty="0"/>
          </a:p>
          <a:p>
            <a:r>
              <a:rPr lang="en-US" dirty="0">
                <a:hlinkClick r:id="rId4"/>
              </a:rPr>
              <a:t>What is a game jam? | Global Game Jam</a:t>
            </a:r>
            <a:endParaRPr lang="en-US" dirty="0"/>
          </a:p>
          <a:p>
            <a:r>
              <a:rPr lang="en-US" dirty="0">
                <a:hlinkClick r:id="rId5"/>
              </a:rPr>
              <a:t>Master Game Jams With This Definitive Guide | </a:t>
            </a:r>
            <a:r>
              <a:rPr lang="en-US" dirty="0" err="1">
                <a:hlinkClick r:id="rId5"/>
              </a:rPr>
              <a:t>GameMaker</a:t>
            </a:r>
            <a:endParaRPr lang="en-US" dirty="0"/>
          </a:p>
          <a:p>
            <a:r>
              <a:rPr lang="en-US" dirty="0">
                <a:hlinkClick r:id="rId6"/>
              </a:rPr>
              <a:t>Game Jams 101: What Is A Game Jam?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03EF1-E180-446C-84ED-DC0544C0FD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2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of conduct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03EF1-E180-446C-84ED-DC0544C0FD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59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panel of patients talking about their unique needs. Have teams start at hospital get a tour see how we help kids and what they’re going to do has a huge impact on what we do in child life. 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03EF1-E180-446C-84ED-DC0544C0FD9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37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46DB1-DBB0-EEA6-2B76-447CFBF3F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22266F-39AD-D4F0-C262-E06F37344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286B1-1B6B-7255-4EB7-CF09231B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16F04-5326-7CE9-BEA3-9CA9DD148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4F19F-A0CF-9913-4492-C1A138909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0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B740-9D84-070B-F6E1-E05E5570F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D99B7-783D-A330-3D70-956DE05CF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C2A8D-FEDC-F6D3-9DC3-FF25F662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CFBD-6BEB-A0FA-911E-55ADDCA4C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CA345-FBE9-7AFC-6080-804FA58A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2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F45C-9E64-DCA1-B9F5-8446B1F5C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2088-489A-DA97-2BC2-2692573FB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0DF82-158D-4309-9E28-1B46C5573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862A-7E28-F37F-6499-53ED6820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389F4-5647-7F94-E058-80A17BDB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9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35CB-C2FD-1299-610C-3AA92E3A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C3C32-48D5-6620-642D-FD108870D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1F55B-CFC4-5477-C653-EFEF98799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1E03E-F627-AB50-FE8E-C7C6D3D3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DC1A6-9C80-8289-C085-2FE8E8438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1DBE0-7F13-1722-22B0-5D634D7A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7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AADF-EBEB-4EBB-61AD-2B69EA3F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7FA2A-342D-2689-A350-6E1EF3F29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EC6ED-4039-8F0E-37BA-3BDC73DD1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C15DBA-0417-1885-32D9-F257B1188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EABBE-1571-D0D6-31EC-028349520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072BD-2DA3-A0F0-7263-FE60B8D7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CC5C1-AA8A-F154-33F8-B9B83DE7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D9E54-6506-137B-6EA3-D1022D9C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4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7D88-DC6B-8C06-76A0-1AF79AC3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50063-1BA9-681B-CDD0-619A5246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6D729-09AF-5CF9-458C-0E402905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76D24-D438-D992-1D3F-2FC61033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E3D95-4EA8-7330-3002-7B1B59F0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16315-C1AD-27DD-C2A6-44DA70D2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76654-B4B0-F8B1-F9DD-20F06402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2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D20C-3825-7FFC-9B29-9E9596188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1978-7460-2CF7-AAAC-3082E8091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E8F46-7C84-A2B9-444F-9B1E27132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062A6-9445-AA86-59DF-3E7DAEA7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D7900-592F-DB9F-623F-16D5D8BE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03EE6-0303-4C06-B6A7-D4696C3D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0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ABB69-C3D0-45DF-ABAF-410BE37B9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25E33D-12E6-D217-7C9C-90117015E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A853E-470A-8F4E-A737-5B7EF132C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581E3-9320-6571-E22B-369E1FDD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3E524-D10E-07AE-4524-830C9D55C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90DC8-207E-35C7-0DDA-EEC617B7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2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8E612-B06C-1F36-1ACC-8469E3B5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98469-B9BB-A7FF-23A4-839872573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5C613-48BA-D969-9D35-2447F8AE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C475A-9D8B-3D03-2EC2-12540D2F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1F447-AF48-0900-606B-27B470A82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1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4ED37-04EC-E937-895C-1C013D83F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E24F3-DD0C-0D42-0E22-89EF591EF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8E496-DAC8-1245-95DD-19189339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C833C-4367-59E3-9C57-A6E9B99A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D932C-C225-918E-F7A4-20008F89A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3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F529B7-7317-B124-7778-61FEF228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E0828-9A6C-C4C4-E802-1CB32FEA9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8A7C6-BA88-DD11-A1B6-E44DAF477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509DF-CE6D-49AD-8E10-53BD4651C3B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CBDF6-6A95-ABDE-920E-DC5D9EF30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BF3EC-C2DA-42C6-C010-60189CB57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9BF53-49D3-49C6-90A0-DF00C2EE159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for a video game&#10;&#10;Description automatically generated">
            <a:extLst>
              <a:ext uri="{FF2B5EF4-FFF2-40B4-BE49-F238E27FC236}">
                <a16:creationId xmlns:a16="http://schemas.microsoft.com/office/drawing/2014/main" id="{09D62A58-F13F-6DF3-7708-2CB530686C3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9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9" t="22001" r="-319" b="25306"/>
          <a:stretch/>
        </p:blipFill>
        <p:spPr>
          <a:xfrm>
            <a:off x="0" y="0"/>
            <a:ext cx="12270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86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60.png"/><Relationship Id="rId18" Type="http://schemas.openxmlformats.org/officeDocument/2006/relationships/image" Target="../media/image11.png"/><Relationship Id="rId26" Type="http://schemas.openxmlformats.org/officeDocument/2006/relationships/image" Target="../media/image16.png"/><Relationship Id="rId3" Type="http://schemas.openxmlformats.org/officeDocument/2006/relationships/image" Target="../media/image15.png"/><Relationship Id="rId21" Type="http://schemas.openxmlformats.org/officeDocument/2006/relationships/image" Target="../media/image100.png"/><Relationship Id="rId7" Type="http://schemas.openxmlformats.org/officeDocument/2006/relationships/image" Target="../media/image30.png"/><Relationship Id="rId12" Type="http://schemas.openxmlformats.org/officeDocument/2006/relationships/image" Target="../media/image8.png"/><Relationship Id="rId17" Type="http://schemas.openxmlformats.org/officeDocument/2006/relationships/image" Target="../media/image80.png"/><Relationship Id="rId25" Type="http://schemas.openxmlformats.org/officeDocument/2006/relationships/image" Target="../media/image120.png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0.png"/><Relationship Id="rId24" Type="http://schemas.openxmlformats.org/officeDocument/2006/relationships/image" Target="../media/image14.png"/><Relationship Id="rId5" Type="http://schemas.openxmlformats.org/officeDocument/2006/relationships/image" Target="../media/image20.png"/><Relationship Id="rId15" Type="http://schemas.openxmlformats.org/officeDocument/2006/relationships/image" Target="../media/image70.png"/><Relationship Id="rId23" Type="http://schemas.openxmlformats.org/officeDocument/2006/relationships/image" Target="../media/image110.png"/><Relationship Id="rId10" Type="http://schemas.openxmlformats.org/officeDocument/2006/relationships/image" Target="../media/image7.png"/><Relationship Id="rId19" Type="http://schemas.openxmlformats.org/officeDocument/2006/relationships/image" Target="../media/image90.png"/><Relationship Id="rId4" Type="http://schemas.openxmlformats.org/officeDocument/2006/relationships/image" Target="../media/image4.png"/><Relationship Id="rId9" Type="http://schemas.openxmlformats.org/officeDocument/2006/relationships/image" Target="../media/image40.png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image" Target="../media/image1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7.png"/><Relationship Id="rId4" Type="http://schemas.openxmlformats.org/officeDocument/2006/relationships/slide" Target="slide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4DC22-3C8B-E271-EB17-84D0C40A6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9F8DB"/>
                </a:solidFill>
                <a:latin typeface="Berlin Sans FB Demi" panose="020E0802020502020306" pitchFamily="34" charset="0"/>
              </a:rPr>
              <a:t>TankopaniJam</a:t>
            </a:r>
            <a:r>
              <a:rPr lang="en-US" sz="4400" dirty="0">
                <a:latin typeface="Berlin Sans FB Demi" panose="020E0802020502020306" pitchFamily="34" charset="0"/>
              </a:rPr>
              <a:t> </a:t>
            </a:r>
            <a:br>
              <a:rPr lang="en-US" sz="4400" dirty="0"/>
            </a:br>
            <a:r>
              <a:rPr lang="en-US" sz="4400" dirty="0"/>
              <a:t>(aka Nemours Game Jam)</a:t>
            </a:r>
          </a:p>
        </p:txBody>
      </p:sp>
      <p:pic>
        <p:nvPicPr>
          <p:cNvPr id="4" name="Picture 3" descr="A logo for a video game&#10;&#10;Description automatically generated">
            <a:extLst>
              <a:ext uri="{FF2B5EF4-FFF2-40B4-BE49-F238E27FC236}">
                <a16:creationId xmlns:a16="http://schemas.microsoft.com/office/drawing/2014/main" id="{A0945106-DEEC-84EA-433F-622023E8D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253" y="807101"/>
            <a:ext cx="4942280" cy="524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97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5982-22FC-1EE7-27CD-84FF2DBAFF7B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9F8DB"/>
                </a:solidFill>
              </a:rPr>
              <a:t>Table of Contents – </a:t>
            </a:r>
            <a:r>
              <a:rPr lang="en-US" sz="2800" dirty="0">
                <a:solidFill>
                  <a:srgbClr val="F9F8DB"/>
                </a:solidFill>
              </a:rPr>
              <a:t>click on each to go to that slide, image at top will bring you back here. Also, some key words are hyperlinked to their description slide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8C93D969-1449-3888-BAB7-4E6DB9307B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571929"/>
                  </p:ext>
                </p:extLst>
              </p:nvPr>
            </p:nvGraphicFramePr>
            <p:xfrm>
              <a:off x="530943" y="2132218"/>
              <a:ext cx="1828800" cy="1028700"/>
            </p:xfrm>
            <a:graphic>
              <a:graphicData uri="http://schemas.microsoft.com/office/powerpoint/2016/slidezoom">
                <pslz:sldZm>
                  <pslz:sldZmObj sldId="261" cId="220336461">
                    <pslz:zmPr id="{49C4517B-6162-4A9F-AB19-A6799114DE05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8C93D969-1449-3888-BAB7-4E6DB9307B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0943" y="2132218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CB8069A6-CC29-676E-A0C9-7E0D9C64B7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5849884"/>
                  </p:ext>
                </p:extLst>
              </p:nvPr>
            </p:nvGraphicFramePr>
            <p:xfrm>
              <a:off x="2861188" y="2132218"/>
              <a:ext cx="1828800" cy="1028700"/>
            </p:xfrm>
            <a:graphic>
              <a:graphicData uri="http://schemas.microsoft.com/office/powerpoint/2016/slidezoom">
                <pslz:sldZm>
                  <pslz:sldZmObj sldId="257" cId="462899025">
                    <pslz:zmPr id="{BEE85E0D-E360-44C2-AC3B-93368C381705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CB8069A6-CC29-676E-A0C9-7E0D9C64B7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61188" y="2132218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35E8A3BF-AA81-571E-931A-0DFC5623123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61857269"/>
                  </p:ext>
                </p:extLst>
              </p:nvPr>
            </p:nvGraphicFramePr>
            <p:xfrm>
              <a:off x="4997245" y="2125160"/>
              <a:ext cx="1828800" cy="1028700"/>
            </p:xfrm>
            <a:graphic>
              <a:graphicData uri="http://schemas.microsoft.com/office/powerpoint/2016/slidezoom">
                <pslz:sldZm>
                  <pslz:sldZmObj sldId="262" cId="3292255072">
                    <pslz:zmPr id="{DD9AF7EA-1776-4096-9F5C-FD2B8B551215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extLst>
                  <a:ext uri="{FF2B5EF4-FFF2-40B4-BE49-F238E27FC236}">
                    <a16:creationId xmlns:a16="http://schemas.microsoft.com/office/drawing/2014/main" id="{35E8A3BF-AA81-571E-931A-0DFC5623123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97245" y="2125160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225B5FBA-C2F2-7A55-21E6-C58F3D35F5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68159779"/>
                  </p:ext>
                </p:extLst>
              </p:nvPr>
            </p:nvGraphicFramePr>
            <p:xfrm>
              <a:off x="7026377" y="2144364"/>
              <a:ext cx="1828800" cy="1028700"/>
            </p:xfrm>
            <a:graphic>
              <a:graphicData uri="http://schemas.microsoft.com/office/powerpoint/2016/slidezoom">
                <pslz:sldZm>
                  <pslz:sldZmObj sldId="267" cId="2184396102">
                    <pslz:zmPr id="{61AFFC09-8758-4F6F-BB1F-2ADC01981D17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225B5FBA-C2F2-7A55-21E6-C58F3D35F5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26377" y="2144364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91C2111C-D85C-2513-4247-0BA1BF7686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384630"/>
                  </p:ext>
                </p:extLst>
              </p:nvPr>
            </p:nvGraphicFramePr>
            <p:xfrm>
              <a:off x="9156290" y="2083608"/>
              <a:ext cx="1828800" cy="1028700"/>
            </p:xfrm>
            <a:graphic>
              <a:graphicData uri="http://schemas.microsoft.com/office/powerpoint/2016/slidezoom">
                <pslz:sldZm>
                  <pslz:sldZmObj sldId="270" cId="2571455762">
                    <pslz:zmPr id="{74B7E0D2-5CB0-45E9-9C15-9EFB2541C14C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extLst>
                  <a:ext uri="{FF2B5EF4-FFF2-40B4-BE49-F238E27FC236}">
                    <a16:creationId xmlns:a16="http://schemas.microsoft.com/office/drawing/2014/main" id="{91C2111C-D85C-2513-4247-0BA1BF7686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56290" y="2083608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3936D969-1B2C-FCAB-CBE0-B29ED8D473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46381828"/>
                  </p:ext>
                </p:extLst>
              </p:nvPr>
            </p:nvGraphicFramePr>
            <p:xfrm>
              <a:off x="530943" y="3774473"/>
              <a:ext cx="1828800" cy="1028700"/>
            </p:xfrm>
            <a:graphic>
              <a:graphicData uri="http://schemas.microsoft.com/office/powerpoint/2016/slidezoom">
                <pslz:sldZm>
                  <pslz:sldZmObj sldId="263" cId="3635900289">
                    <pslz:zmPr id="{AE6C1D11-D1D5-41CE-A239-24DC51C30ACE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Slide Zoom 14">
                <a:extLst>
                  <a:ext uri="{FF2B5EF4-FFF2-40B4-BE49-F238E27FC236}">
                    <a16:creationId xmlns:a16="http://schemas.microsoft.com/office/drawing/2014/main" id="{3936D969-1B2C-FCAB-CBE0-B29ED8D473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0943" y="3774473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Slide Zoom 16">
                <a:extLst>
                  <a:ext uri="{FF2B5EF4-FFF2-40B4-BE49-F238E27FC236}">
                    <a16:creationId xmlns:a16="http://schemas.microsoft.com/office/drawing/2014/main" id="{AD637820-2012-AA15-3B89-D860655A218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48064017"/>
                  </p:ext>
                </p:extLst>
              </p:nvPr>
            </p:nvGraphicFramePr>
            <p:xfrm>
              <a:off x="2861188" y="3795136"/>
              <a:ext cx="1828800" cy="1028700"/>
            </p:xfrm>
            <a:graphic>
              <a:graphicData uri="http://schemas.microsoft.com/office/powerpoint/2016/slidezoom">
                <pslz:sldZm>
                  <pslz:sldZmObj sldId="271" cId="1723428077">
                    <pslz:zmPr id="{AA3EC6E1-D61B-4C38-A556-8BE60F7DA6AA}" returnToParent="0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Slide Zoom 16">
                <a:extLst>
                  <a:ext uri="{FF2B5EF4-FFF2-40B4-BE49-F238E27FC236}">
                    <a16:creationId xmlns:a16="http://schemas.microsoft.com/office/drawing/2014/main" id="{AD637820-2012-AA15-3B89-D860655A218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61188" y="3795136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51857F16-1B3A-CFA0-4BA6-C99C2D76D16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8983015"/>
                  </p:ext>
                </p:extLst>
              </p:nvPr>
            </p:nvGraphicFramePr>
            <p:xfrm>
              <a:off x="4997245" y="3774473"/>
              <a:ext cx="1828800" cy="1028700"/>
            </p:xfrm>
            <a:graphic>
              <a:graphicData uri="http://schemas.microsoft.com/office/powerpoint/2016/slidezoom">
                <pslz:sldZm>
                  <pslz:sldZmObj sldId="264" cId="1951840060">
                    <pslz:zmPr id="{272B4A2B-3D1C-4358-87D0-DC0A5F34A163}" returnToParent="0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Slide Zoom 18">
                <a:extLst>
                  <a:ext uri="{FF2B5EF4-FFF2-40B4-BE49-F238E27FC236}">
                    <a16:creationId xmlns:a16="http://schemas.microsoft.com/office/drawing/2014/main" id="{51857F16-1B3A-CFA0-4BA6-C99C2D76D16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97245" y="3774473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87A08589-57A9-9948-2C94-AD9294E09ED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87052974"/>
                  </p:ext>
                </p:extLst>
              </p:nvPr>
            </p:nvGraphicFramePr>
            <p:xfrm>
              <a:off x="7026377" y="3774473"/>
              <a:ext cx="1828800" cy="1028700"/>
            </p:xfrm>
            <a:graphic>
              <a:graphicData uri="http://schemas.microsoft.com/office/powerpoint/2016/slidezoom">
                <pslz:sldZm>
                  <pslz:sldZmObj sldId="272" cId="2026048977">
                    <pslz:zmPr id="{5CB17918-6C82-4EC9-9B41-CAB05042401D}" returnToParent="0" transitionDur="100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1" name="Slide Zoom 20">
                <a:extLst>
                  <a:ext uri="{FF2B5EF4-FFF2-40B4-BE49-F238E27FC236}">
                    <a16:creationId xmlns:a16="http://schemas.microsoft.com/office/drawing/2014/main" id="{87A08589-57A9-9948-2C94-AD9294E09E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26377" y="3774473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3" name="Slide Zoom 22">
                <a:extLst>
                  <a:ext uri="{FF2B5EF4-FFF2-40B4-BE49-F238E27FC236}">
                    <a16:creationId xmlns:a16="http://schemas.microsoft.com/office/drawing/2014/main" id="{7BB88AD9-DD24-C324-89DE-BD04B59009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0765310"/>
                  </p:ext>
                </p:extLst>
              </p:nvPr>
            </p:nvGraphicFramePr>
            <p:xfrm>
              <a:off x="9156290" y="3774473"/>
              <a:ext cx="1828800" cy="1028700"/>
            </p:xfrm>
            <a:graphic>
              <a:graphicData uri="http://schemas.microsoft.com/office/powerpoint/2016/slidezoom">
                <pslz:sldZm>
                  <pslz:sldZmObj sldId="268" cId="3427815643">
                    <pslz:zmPr id="{E49C3E81-C885-4628-9163-357CE63F58B1}" returnToParent="0" transitionDur="100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3" name="Slide Zoom 22">
                <a:extLst>
                  <a:ext uri="{FF2B5EF4-FFF2-40B4-BE49-F238E27FC236}">
                    <a16:creationId xmlns:a16="http://schemas.microsoft.com/office/drawing/2014/main" id="{7BB88AD9-DD24-C324-89DE-BD04B59009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156290" y="3774473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5" name="Slide Zoom 24">
                <a:extLst>
                  <a:ext uri="{FF2B5EF4-FFF2-40B4-BE49-F238E27FC236}">
                    <a16:creationId xmlns:a16="http://schemas.microsoft.com/office/drawing/2014/main" id="{1D1CB04E-CB57-E6D5-E7DE-EF833BEC85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6887323"/>
                  </p:ext>
                </p:extLst>
              </p:nvPr>
            </p:nvGraphicFramePr>
            <p:xfrm>
              <a:off x="530943" y="5416728"/>
              <a:ext cx="1828800" cy="1028700"/>
            </p:xfrm>
            <a:graphic>
              <a:graphicData uri="http://schemas.microsoft.com/office/powerpoint/2016/slidezoom">
                <pslz:sldZm>
                  <pslz:sldZmObj sldId="269" cId="4197686051">
                    <pslz:zmPr id="{79C10A36-0776-4474-A1D4-698BF86EEA24}" returnToParent="0" transitionDur="1000">
                      <p166:blipFill xmlns:p166="http://schemas.microsoft.com/office/powerpoint/2016/6/main">
                        <a:blip r:embed="rId2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5" name="Slide Zoom 24">
                <a:extLst>
                  <a:ext uri="{FF2B5EF4-FFF2-40B4-BE49-F238E27FC236}">
                    <a16:creationId xmlns:a16="http://schemas.microsoft.com/office/drawing/2014/main" id="{1D1CB04E-CB57-E6D5-E7DE-EF833BEC85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0943" y="5416728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7" name="Slide Zoom 26">
                <a:extLst>
                  <a:ext uri="{FF2B5EF4-FFF2-40B4-BE49-F238E27FC236}">
                    <a16:creationId xmlns:a16="http://schemas.microsoft.com/office/drawing/2014/main" id="{BE368429-6291-08E0-C28D-25835B8184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31153104"/>
                  </p:ext>
                </p:extLst>
              </p:nvPr>
            </p:nvGraphicFramePr>
            <p:xfrm>
              <a:off x="2861188" y="5416728"/>
              <a:ext cx="1828800" cy="1028700"/>
            </p:xfrm>
            <a:graphic>
              <a:graphicData uri="http://schemas.microsoft.com/office/powerpoint/2016/slidezoom">
                <pslz:sldZm>
                  <pslz:sldZmObj sldId="266" cId="1137589664">
                    <pslz:zmPr id="{DF6B4339-3699-445D-AFE8-78A39663F8B7}" returnToParent="0" transitionDur="100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7" name="Slide Zoom 26">
                <a:extLst>
                  <a:ext uri="{FF2B5EF4-FFF2-40B4-BE49-F238E27FC236}">
                    <a16:creationId xmlns:a16="http://schemas.microsoft.com/office/drawing/2014/main" id="{BE368429-6291-08E0-C28D-25835B8184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61188" y="5416728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9" name="Slide Zoom 28">
                <a:extLst>
                  <a:ext uri="{FF2B5EF4-FFF2-40B4-BE49-F238E27FC236}">
                    <a16:creationId xmlns:a16="http://schemas.microsoft.com/office/drawing/2014/main" id="{E12D1783-44B6-6D2C-361F-9785533F90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86989884"/>
                  </p:ext>
                </p:extLst>
              </p:nvPr>
            </p:nvGraphicFramePr>
            <p:xfrm>
              <a:off x="4997245" y="5416728"/>
              <a:ext cx="1828800" cy="1028700"/>
            </p:xfrm>
            <a:graphic>
              <a:graphicData uri="http://schemas.microsoft.com/office/powerpoint/2016/slidezoom">
                <pslz:sldZm>
                  <pslz:sldZmObj sldId="265" cId="486904121">
                    <pslz:zmPr id="{C5200452-7168-4D77-BC72-26457FDFF395}" returnToParent="0" transitionDur="100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0" cy="1028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9" name="Slide Zoom 28">
                <a:extLst>
                  <a:ext uri="{FF2B5EF4-FFF2-40B4-BE49-F238E27FC236}">
                    <a16:creationId xmlns:a16="http://schemas.microsoft.com/office/drawing/2014/main" id="{E12D1783-44B6-6D2C-361F-9785533F90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97245" y="5416728"/>
                <a:ext cx="1828800" cy="1028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0145C338-6C92-2B9A-93D0-918EAB3833FA}"/>
              </a:ext>
            </a:extLst>
          </p:cNvPr>
          <p:cNvSpPr txBox="1"/>
          <p:nvPr/>
        </p:nvSpPr>
        <p:spPr>
          <a:xfrm>
            <a:off x="530943" y="3160918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What is a Game Jam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C1C94B-B734-B010-6401-3CD4E7546EAF}"/>
              </a:ext>
            </a:extLst>
          </p:cNvPr>
          <p:cNvSpPr txBox="1"/>
          <p:nvPr/>
        </p:nvSpPr>
        <p:spPr>
          <a:xfrm>
            <a:off x="2861188" y="315386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Summary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37C461-09D5-C5B0-E5DF-185891708469}"/>
              </a:ext>
            </a:extLst>
          </p:cNvPr>
          <p:cNvSpPr txBox="1"/>
          <p:nvPr/>
        </p:nvSpPr>
        <p:spPr>
          <a:xfrm>
            <a:off x="4992944" y="3177173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Who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A7D167-85C6-2F5F-FADF-68831F591647}"/>
              </a:ext>
            </a:extLst>
          </p:cNvPr>
          <p:cNvSpPr txBox="1"/>
          <p:nvPr/>
        </p:nvSpPr>
        <p:spPr>
          <a:xfrm>
            <a:off x="7026377" y="3177173"/>
            <a:ext cx="1828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Participation Requirements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F19C43-7EFA-30A3-350F-43718BA406D0}"/>
              </a:ext>
            </a:extLst>
          </p:cNvPr>
          <p:cNvSpPr txBox="1"/>
          <p:nvPr/>
        </p:nvSpPr>
        <p:spPr>
          <a:xfrm>
            <a:off x="9156290" y="3160918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Timeline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C32158-F0CE-BAA2-1184-8DE2A7608DC7}"/>
              </a:ext>
            </a:extLst>
          </p:cNvPr>
          <p:cNvSpPr txBox="1"/>
          <p:nvPr/>
        </p:nvSpPr>
        <p:spPr>
          <a:xfrm>
            <a:off x="530943" y="4768818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Criteria for Judging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01D381-96B5-3EB7-E546-2111CF4FA069}"/>
              </a:ext>
            </a:extLst>
          </p:cNvPr>
          <p:cNvSpPr txBox="1"/>
          <p:nvPr/>
        </p:nvSpPr>
        <p:spPr>
          <a:xfrm>
            <a:off x="2861188" y="476176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Judging Day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E2A166-C3FD-39C5-6586-114690E1203D}"/>
              </a:ext>
            </a:extLst>
          </p:cNvPr>
          <p:cNvSpPr txBox="1"/>
          <p:nvPr/>
        </p:nvSpPr>
        <p:spPr>
          <a:xfrm>
            <a:off x="4992944" y="4785073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 Requirements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C6959C-8379-6CC3-BB2F-027FAEFF7087}"/>
              </a:ext>
            </a:extLst>
          </p:cNvPr>
          <p:cNvSpPr txBox="1"/>
          <p:nvPr/>
        </p:nvSpPr>
        <p:spPr>
          <a:xfrm>
            <a:off x="7026377" y="4785073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Theme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F842F4-3A8B-4DA8-0F1A-518FBFEB04B9}"/>
              </a:ext>
            </a:extLst>
          </p:cNvPr>
          <p:cNvSpPr txBox="1"/>
          <p:nvPr/>
        </p:nvSpPr>
        <p:spPr>
          <a:xfrm>
            <a:off x="9156290" y="4768818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Check ins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EC68DE-785E-93D1-4F4D-26BF978CF67D}"/>
              </a:ext>
            </a:extLst>
          </p:cNvPr>
          <p:cNvSpPr txBox="1"/>
          <p:nvPr/>
        </p:nvSpPr>
        <p:spPr>
          <a:xfrm>
            <a:off x="437537" y="6429173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Awards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E9A0D4-CC82-D8F1-8C58-5FE9EB3DE83E}"/>
              </a:ext>
            </a:extLst>
          </p:cNvPr>
          <p:cNvSpPr txBox="1"/>
          <p:nvPr/>
        </p:nvSpPr>
        <p:spPr>
          <a:xfrm>
            <a:off x="2767782" y="6422115"/>
            <a:ext cx="1828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Judging Requirements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EC085B-86A4-76CB-A782-72F1669E84ED}"/>
              </a:ext>
            </a:extLst>
          </p:cNvPr>
          <p:cNvSpPr txBox="1"/>
          <p:nvPr/>
        </p:nvSpPr>
        <p:spPr>
          <a:xfrm>
            <a:off x="4899538" y="6445428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ROI</a:t>
            </a:r>
          </a:p>
        </p:txBody>
      </p:sp>
    </p:spTree>
    <p:extLst>
      <p:ext uri="{BB962C8B-B14F-4D97-AF65-F5344CB8AC3E}">
        <p14:creationId xmlns:p14="http://schemas.microsoft.com/office/powerpoint/2010/main" val="642367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DC22-3C8B-E271-EB17-84D0C40A6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467"/>
            <a:ext cx="9144000" cy="94241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Tankopanijam</a:t>
            </a:r>
            <a:r>
              <a:rPr lang="en-US" dirty="0"/>
              <a:t> </a:t>
            </a:r>
            <a:br>
              <a:rPr lang="en-US" dirty="0"/>
            </a:br>
            <a:r>
              <a:rPr lang="en-US" sz="1600" dirty="0"/>
              <a:t>(aka Nemours Game Jam)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0CFFBDC-53C3-1E94-9853-03CEFF8A6A6E}"/>
              </a:ext>
            </a:extLst>
          </p:cNvPr>
          <p:cNvSpPr txBox="1">
            <a:spLocks/>
          </p:cNvSpPr>
          <p:nvPr/>
        </p:nvSpPr>
        <p:spPr>
          <a:xfrm>
            <a:off x="6588638" y="1266994"/>
            <a:ext cx="5603362" cy="2152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rgbClr val="303030"/>
                </a:solidFill>
                <a:latin typeface="Georgia Pro" panose="020F0502020204030204" pitchFamily="18" charset="0"/>
              </a:rPr>
              <a:t>How it works?</a:t>
            </a:r>
          </a:p>
          <a:p>
            <a:pPr algn="l"/>
            <a:r>
              <a:rPr lang="en-US" dirty="0">
                <a:solidFill>
                  <a:srgbClr val="303030"/>
                </a:solidFill>
                <a:latin typeface="Georgia Pro" panose="020F0502020204030204" pitchFamily="18" charset="0"/>
              </a:rPr>
              <a:t>College Teams</a:t>
            </a:r>
          </a:p>
          <a:p>
            <a:pPr algn="l"/>
            <a:r>
              <a:rPr lang="en-US" dirty="0">
                <a:solidFill>
                  <a:srgbClr val="303030"/>
                </a:solidFill>
                <a:latin typeface="Georgia Pro" panose="020F0502020204030204" pitchFamily="18" charset="0"/>
              </a:rPr>
              <a:t>1 Theme/game prompt suggested by patients</a:t>
            </a:r>
          </a:p>
          <a:p>
            <a:pPr algn="l"/>
            <a:r>
              <a:rPr lang="en-US" dirty="0">
                <a:solidFill>
                  <a:srgbClr val="303030"/>
                </a:solidFill>
                <a:latin typeface="Georgia Pro" panose="020F0502020204030204" pitchFamily="18" charset="0"/>
              </a:rPr>
              <a:t>3 days to build a demo quality game to requirements.</a:t>
            </a:r>
          </a:p>
          <a:p>
            <a:pPr algn="l"/>
            <a:r>
              <a:rPr lang="en-US" dirty="0">
                <a:solidFill>
                  <a:srgbClr val="303030"/>
                </a:solidFill>
                <a:latin typeface="Georgia Pro" panose="020F0502020204030204" pitchFamily="18" charset="0"/>
              </a:rPr>
              <a:t>Judged by Patients!</a:t>
            </a:r>
          </a:p>
          <a:p>
            <a:pPr algn="l"/>
            <a:r>
              <a:rPr lang="en-US" dirty="0">
                <a:solidFill>
                  <a:srgbClr val="303030"/>
                </a:solidFill>
                <a:latin typeface="Georgia Pro" panose="020F0502020204030204" pitchFamily="18" charset="0"/>
              </a:rPr>
              <a:t>Scholarship prizes for Teams</a:t>
            </a:r>
          </a:p>
          <a:p>
            <a:pPr algn="l"/>
            <a:r>
              <a:rPr lang="en-US" dirty="0">
                <a:solidFill>
                  <a:srgbClr val="303030"/>
                </a:solidFill>
                <a:latin typeface="Georgia Pro" panose="020F0502020204030204" pitchFamily="18" charset="0"/>
              </a:rPr>
              <a:t>Corporate Donors for fundraising through Sponsorships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BBD956B-C892-AC88-159A-1B508726D7A4}"/>
              </a:ext>
            </a:extLst>
          </p:cNvPr>
          <p:cNvSpPr txBox="1">
            <a:spLocks/>
          </p:cNvSpPr>
          <p:nvPr/>
        </p:nvSpPr>
        <p:spPr>
          <a:xfrm>
            <a:off x="478540" y="3582601"/>
            <a:ext cx="6051756" cy="235631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rgbClr val="303030"/>
                </a:solidFill>
                <a:latin typeface="Georgia Pro" panose="020F0502020204030204" pitchFamily="18" charset="0"/>
              </a:rPr>
              <a:t>Why a Game Jam?</a:t>
            </a:r>
          </a:p>
          <a:p>
            <a:pPr algn="l"/>
            <a:r>
              <a:rPr lang="en-US" dirty="0">
                <a:solidFill>
                  <a:srgbClr val="303030"/>
                </a:solidFill>
                <a:latin typeface="Georgia Pro" panose="020F0502020204030204" pitchFamily="18" charset="0"/>
              </a:rPr>
              <a:t>Fantastic way to network with other game developers, test your skills and creativity, and learn how other developers handle stressful situations. Some ideas go on to become fully-fledged games or reveal innovative ways of developing in the future.</a:t>
            </a:r>
          </a:p>
          <a:p>
            <a:pPr algn="l"/>
            <a:r>
              <a:rPr lang="en-US" dirty="0">
                <a:solidFill>
                  <a:srgbClr val="303030"/>
                </a:solidFill>
                <a:latin typeface="Georgia Pro" panose="020F0502020204030204" pitchFamily="18" charset="0"/>
              </a:rPr>
              <a:t>They can benefit beginners and seasoned veterans!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4D1C17E-8AA3-DB47-97E0-AF27A6F1B315}"/>
              </a:ext>
            </a:extLst>
          </p:cNvPr>
          <p:cNvSpPr txBox="1">
            <a:spLocks/>
          </p:cNvSpPr>
          <p:nvPr/>
        </p:nvSpPr>
        <p:spPr>
          <a:xfrm>
            <a:off x="478540" y="1096784"/>
            <a:ext cx="6051756" cy="23563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rgbClr val="303030"/>
                </a:solidFill>
                <a:latin typeface="Georgia Pro" panose="020F0502020204030204" pitchFamily="18" charset="0"/>
              </a:rPr>
              <a:t>What the heck is a Game Jam</a:t>
            </a:r>
          </a:p>
          <a:p>
            <a:pPr algn="l"/>
            <a:r>
              <a:rPr lang="en-US" dirty="0">
                <a:solidFill>
                  <a:srgbClr val="303030"/>
                </a:solidFill>
                <a:latin typeface="Georgia Pro" panose="020F0502020204030204" pitchFamily="18" charset="0"/>
              </a:rPr>
              <a:t>72 Hour / 3-day creative marathon of designing, building, and rapidly prototype (create) a game within a strict timeline based on a specific set of requirements set by the organizers.</a:t>
            </a:r>
          </a:p>
          <a:p>
            <a:pPr algn="l"/>
            <a:r>
              <a:rPr lang="en-US" sz="1100" dirty="0">
                <a:solidFill>
                  <a:srgbClr val="303030"/>
                </a:solidFill>
                <a:latin typeface="Georgia Pro" panose="020F0502020204030204" pitchFamily="18" charset="0"/>
              </a:rPr>
              <a:t>(see link in notes)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64DBE69-FC5B-7718-20D1-D31D6739321F}"/>
              </a:ext>
            </a:extLst>
          </p:cNvPr>
          <p:cNvSpPr txBox="1">
            <a:spLocks/>
          </p:cNvSpPr>
          <p:nvPr/>
        </p:nvSpPr>
        <p:spPr>
          <a:xfrm>
            <a:off x="6530296" y="4015111"/>
            <a:ext cx="5603362" cy="2152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rgbClr val="303030"/>
                </a:solidFill>
                <a:latin typeface="Georgia Pro" panose="020F0502020204030204" pitchFamily="18" charset="0"/>
              </a:rPr>
              <a:t>Benefits</a:t>
            </a:r>
          </a:p>
          <a:p>
            <a:pPr algn="l"/>
            <a:r>
              <a:rPr lang="en-US" sz="1900" dirty="0">
                <a:solidFill>
                  <a:srgbClr val="303030"/>
                </a:solidFill>
              </a:rPr>
              <a:t>Experience for game developers in college</a:t>
            </a:r>
          </a:p>
          <a:p>
            <a:pPr algn="l"/>
            <a:r>
              <a:rPr lang="en-US" sz="1900" dirty="0">
                <a:solidFill>
                  <a:srgbClr val="303030"/>
                </a:solidFill>
              </a:rPr>
              <a:t>Awareness for Child Life and Nemours</a:t>
            </a:r>
          </a:p>
          <a:p>
            <a:pPr algn="l"/>
            <a:r>
              <a:rPr lang="en-US" sz="1900" dirty="0">
                <a:solidFill>
                  <a:srgbClr val="303030"/>
                </a:solidFill>
              </a:rPr>
              <a:t>Scholarships for participants</a:t>
            </a:r>
          </a:p>
          <a:p>
            <a:pPr algn="l"/>
            <a:r>
              <a:rPr lang="en-US" sz="1900" dirty="0">
                <a:solidFill>
                  <a:srgbClr val="303030"/>
                </a:solidFill>
              </a:rPr>
              <a:t>Corporate donations goes directly to providing patient interaction through gaming.</a:t>
            </a:r>
          </a:p>
          <a:p>
            <a:pPr algn="l"/>
            <a:r>
              <a:rPr lang="en-US" sz="1900" dirty="0">
                <a:solidFill>
                  <a:srgbClr val="303030"/>
                </a:solidFill>
              </a:rPr>
              <a:t>Perfect blend of education, technology, philanthropy, fun, and purpose.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73B78152-0D25-6692-102B-2A27444A82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1307349"/>
                  </p:ext>
                </p:extLst>
              </p:nvPr>
            </p:nvGraphicFramePr>
            <p:xfrm>
              <a:off x="10264877" y="231213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73B78152-0D25-6692-102B-2A27444A82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64877" y="231213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33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DC22-3C8B-E271-EB17-84D0C40A6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467"/>
            <a:ext cx="9144000" cy="94241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Tankopanijam</a:t>
            </a:r>
            <a:r>
              <a:rPr lang="en-US" dirty="0"/>
              <a:t> </a:t>
            </a:r>
            <a:br>
              <a:rPr lang="en-US" dirty="0"/>
            </a:br>
            <a:r>
              <a:rPr lang="en-US" sz="1600" dirty="0"/>
              <a:t>(aka Nemours Game Jam)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665A62A-6F8F-E9C4-5BF1-D34B4D703D52}"/>
              </a:ext>
            </a:extLst>
          </p:cNvPr>
          <p:cNvSpPr txBox="1">
            <a:spLocks/>
          </p:cNvSpPr>
          <p:nvPr/>
        </p:nvSpPr>
        <p:spPr>
          <a:xfrm>
            <a:off x="801329" y="1710813"/>
            <a:ext cx="10589342" cy="4650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rgbClr val="303030"/>
                </a:solidFill>
                <a:latin typeface="Georgia Pro" panose="020F0502020204030204" pitchFamily="18" charset="0"/>
              </a:rPr>
              <a:t>Summary:</a:t>
            </a:r>
          </a:p>
          <a:p>
            <a:pPr algn="l"/>
            <a:r>
              <a:rPr lang="en-US" sz="1600" dirty="0">
                <a:solidFill>
                  <a:srgbClr val="303030"/>
                </a:solidFill>
              </a:rPr>
              <a:t>All Games and Assets go into the file storage of the estate for future game jams and use within the estate preservation plan.</a:t>
            </a:r>
          </a:p>
          <a:p>
            <a:pPr algn="l"/>
            <a:r>
              <a:rPr lang="en-US" sz="1600" dirty="0">
                <a:solidFill>
                  <a:srgbClr val="303030"/>
                </a:solidFill>
              </a:rPr>
              <a:t>Patients get to play the games and judge the outcomes of the jam as well as participate by defining the games requirements, like “Create a game that helps kids deal with IV pokes” Or create an adventure game based on the airplane that landed on the estate’s grounds.</a:t>
            </a:r>
          </a:p>
          <a:p>
            <a:pPr algn="l"/>
            <a:r>
              <a:rPr lang="en-US" sz="1600" dirty="0">
                <a:solidFill>
                  <a:srgbClr val="303030"/>
                </a:solidFill>
              </a:rPr>
              <a:t>Student teams get the experience of creating a game in a short amount of time, work with staff from the Nemours organization, and the potential to further develop the game for the estate.</a:t>
            </a:r>
          </a:p>
          <a:p>
            <a:pPr algn="l"/>
            <a:r>
              <a:rPr lang="en-US" sz="1600" dirty="0">
                <a:solidFill>
                  <a:srgbClr val="303030"/>
                </a:solidFill>
              </a:rPr>
              <a:t>Corporate Sponsors can raise funds to support their chosen team and have those funds go directly to the patients and student teams involved in the game development process.</a:t>
            </a:r>
          </a:p>
          <a:p>
            <a:pPr algn="l"/>
            <a:r>
              <a:rPr lang="en-US" sz="1600" dirty="0">
                <a:solidFill>
                  <a:srgbClr val="303030"/>
                </a:solidFill>
              </a:rPr>
              <a:t>Nemours gets activity and funds for Child Life and increases awareness of the Gaming &amp; Technology needs here at the hospital. The estate gets game content for use as a child life tool and an educational tool about the estate.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AD6F66D7-B8CB-1D6B-955B-667F5B93E8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1307349"/>
                  </p:ext>
                </p:extLst>
              </p:nvPr>
            </p:nvGraphicFramePr>
            <p:xfrm>
              <a:off x="10264877" y="231213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AD6F66D7-B8CB-1D6B-955B-667F5B93E8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64877" y="231213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2899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9879-EBDC-9131-CCAA-C93D97A25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41A67-64CC-45ED-1527-5A444B1B7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5 Teams</a:t>
            </a:r>
          </a:p>
          <a:p>
            <a:pPr lvl="1"/>
            <a:r>
              <a:rPr lang="en-US" dirty="0"/>
              <a:t>Maximum of 5 people and a minimum of 2 on each Team</a:t>
            </a:r>
          </a:p>
          <a:p>
            <a:pPr lvl="1"/>
            <a:r>
              <a:rPr lang="en-US" dirty="0"/>
              <a:t>Teams are made up of students from each invited school</a:t>
            </a:r>
          </a:p>
          <a:p>
            <a:pPr lvl="1"/>
            <a:r>
              <a:rPr lang="en-US" dirty="0"/>
              <a:t>Must have their own laptop/workstation</a:t>
            </a:r>
          </a:p>
          <a:p>
            <a:pPr lvl="1"/>
            <a:r>
              <a:rPr lang="en-US" dirty="0"/>
              <a:t>Can use any game engine but Unity is preferred</a:t>
            </a:r>
          </a:p>
          <a:p>
            <a:pPr lvl="1"/>
            <a:r>
              <a:rPr lang="en-US" dirty="0"/>
              <a:t>Must be physically present at kick off meeting and Submission meeting</a:t>
            </a:r>
          </a:p>
          <a:p>
            <a:pPr lvl="1"/>
            <a:r>
              <a:rPr lang="en-US" dirty="0"/>
              <a:t>All assets, code, scripts, and materials will have shared ownership with participant and Nemours Estate – see legal page.</a:t>
            </a:r>
          </a:p>
          <a:p>
            <a:r>
              <a:rPr lang="en-US" dirty="0"/>
              <a:t>Team Sponsor</a:t>
            </a:r>
          </a:p>
          <a:p>
            <a:pPr lvl="1"/>
            <a:r>
              <a:rPr lang="en-US" dirty="0"/>
              <a:t>In charge of fundraising for the team, can be school or a corporate sponsor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076B0442-DCCA-6B00-B6BC-8DB49C207B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1307349"/>
                  </p:ext>
                </p:extLst>
              </p:nvPr>
            </p:nvGraphicFramePr>
            <p:xfrm>
              <a:off x="10264877" y="231213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076B0442-DCCA-6B00-B6BC-8DB49C207B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4877" y="231213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225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229A-21BC-EAE7-5D1D-0A40C032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requirements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CD91-EF88-4B7E-9311-B90929E5F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be in College studying a related field (Game Development, computer science, Business, etc.) </a:t>
            </a:r>
          </a:p>
          <a:p>
            <a:r>
              <a:rPr lang="en-US" dirty="0"/>
              <a:t>Able to be here for a week with a Sponsor from their school </a:t>
            </a:r>
          </a:p>
          <a:p>
            <a:pPr lvl="1"/>
            <a:r>
              <a:rPr lang="en-US" dirty="0"/>
              <a:t>One sponsor from each school (all 5 team members have 1 sponsor)</a:t>
            </a:r>
          </a:p>
          <a:p>
            <a:r>
              <a:rPr lang="en-US" dirty="0"/>
              <a:t>Each School Sponsor will be responsible for at least 2 check ins over the 3 days.</a:t>
            </a:r>
          </a:p>
          <a:p>
            <a:r>
              <a:rPr lang="en-US" dirty="0"/>
              <a:t>GPA of 3.0 or higher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DFA08E05-A0A5-C678-0CA7-E25A5CB33B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199187"/>
                  </p:ext>
                </p:extLst>
              </p:nvPr>
            </p:nvGraphicFramePr>
            <p:xfrm>
              <a:off x="10264877" y="231213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DFA08E05-A0A5-C678-0CA7-E25A5CB33B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4877" y="231213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4396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1A31-A5B9-DB14-343F-E7F0E080B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- </a:t>
            </a:r>
            <a:r>
              <a:rPr lang="en-US" sz="3100" dirty="0"/>
              <a:t>3 days build, 1 day of rest/testing, 1 Release Day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21951-DC32-5E8A-8B25-400208FFA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3 days</a:t>
            </a:r>
          </a:p>
          <a:p>
            <a:pPr lvl="1"/>
            <a:r>
              <a:rPr lang="en-US" dirty="0"/>
              <a:t>Meet and Greet 10am</a:t>
            </a:r>
          </a:p>
          <a:p>
            <a:pPr lvl="2"/>
            <a:r>
              <a:rPr lang="en-US" dirty="0"/>
              <a:t>Teams meet in the Hospital Atrium for tour of Child Life Clubhouse, CCTV Studio, and School programs. </a:t>
            </a:r>
          </a:p>
          <a:p>
            <a:pPr lvl="2"/>
            <a:r>
              <a:rPr lang="en-US" dirty="0"/>
              <a:t>Teams also get to meet up with </a:t>
            </a:r>
            <a:r>
              <a:rPr lang="en-US" dirty="0">
                <a:hlinkClick r:id="rId3" action="ppaction://hlinksldjump"/>
              </a:rPr>
              <a:t>Patient</a:t>
            </a:r>
            <a:r>
              <a:rPr lang="en-US" dirty="0"/>
              <a:t> Judges to review their unique needs while gaming and why gaming was important to them while here.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Kick off meeting 11am</a:t>
            </a:r>
          </a:p>
          <a:p>
            <a:pPr lvl="2"/>
            <a:r>
              <a:rPr lang="en-US" dirty="0"/>
              <a:t>Game requirements and themes are set, students will build from the release of the requirements (approx. 11:30am) until 5pm on 3</a:t>
            </a:r>
            <a:r>
              <a:rPr lang="en-US" baseline="30000" dirty="0"/>
              <a:t>rd</a:t>
            </a:r>
            <a:r>
              <a:rPr lang="en-US" dirty="0"/>
              <a:t> day</a:t>
            </a:r>
          </a:p>
          <a:p>
            <a:pPr lvl="2"/>
            <a:r>
              <a:rPr lang="en-US" dirty="0"/>
              <a:t>Team Sponsors are briefed in a separate meeting immediately after.</a:t>
            </a:r>
          </a:p>
          <a:p>
            <a:pPr lvl="1"/>
            <a:r>
              <a:rPr lang="en-US" dirty="0"/>
              <a:t>Each day there is a </a:t>
            </a:r>
            <a:r>
              <a:rPr lang="en-US" dirty="0">
                <a:hlinkClick r:id="rId4" action="ppaction://hlinksldjump"/>
              </a:rPr>
              <a:t>check in requirement from each of the teams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2706BF4C-0ECE-ED78-64F9-573C3852B37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6965420"/>
                  </p:ext>
                </p:extLst>
              </p:nvPr>
            </p:nvGraphicFramePr>
            <p:xfrm>
              <a:off x="10251624" y="1240864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2706BF4C-0ECE-ED78-64F9-573C3852B3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51624" y="1240864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145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DAB5-D0A7-5267-D9A7-FEFB97DBB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958C1-60C9-2EF4-A584-A12D2923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- </a:t>
            </a:r>
            <a:r>
              <a:rPr lang="en-US" sz="3100" dirty="0"/>
              <a:t>3 days build, 1 day of rest/testing, 1 Release Day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56960-12BF-A36C-B773-35F91AD9D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Fourth Day – </a:t>
            </a:r>
          </a:p>
          <a:p>
            <a:pPr lvl="1"/>
            <a:r>
              <a:rPr lang="en-US" dirty="0"/>
              <a:t>1 day of rest for the teams to recover.</a:t>
            </a:r>
          </a:p>
          <a:p>
            <a:pPr lvl="1"/>
            <a:r>
              <a:rPr lang="en-US" dirty="0"/>
              <a:t>Our featured Streamer/Content Creators will do a special stream with interviews, highlights, testimonials from patients on how gaming is so important in their recovery and time spent here. </a:t>
            </a:r>
          </a:p>
          <a:p>
            <a:pPr lvl="1"/>
            <a:r>
              <a:rPr lang="en-US" dirty="0"/>
              <a:t>Judges will also talk about </a:t>
            </a:r>
            <a:r>
              <a:rPr lang="en-US" dirty="0">
                <a:hlinkClick r:id="rId2" action="ppaction://hlinksldjump"/>
              </a:rPr>
              <a:t>criteria</a:t>
            </a:r>
            <a:r>
              <a:rPr lang="en-US" dirty="0"/>
              <a:t> and what the requirements are and get a first chance to play the submitted games.</a:t>
            </a:r>
          </a:p>
          <a:p>
            <a:pPr lvl="1"/>
            <a:r>
              <a:rPr lang="en-US" dirty="0"/>
              <a:t>Patients will also get a “first Look” at the submitted games and can play them in the atrium</a:t>
            </a:r>
          </a:p>
          <a:p>
            <a:r>
              <a:rPr lang="en-US" dirty="0"/>
              <a:t>Fifth Day / Release day / Judgement day</a:t>
            </a:r>
          </a:p>
          <a:p>
            <a:pPr lvl="1"/>
            <a:r>
              <a:rPr lang="en-US" dirty="0">
                <a:hlinkClick r:id="rId3" action="ppaction://hlinksldjump"/>
              </a:rPr>
              <a:t>Judges</a:t>
            </a:r>
            <a:r>
              <a:rPr lang="en-US" dirty="0"/>
              <a:t> will announce the winners in the various </a:t>
            </a:r>
            <a:r>
              <a:rPr lang="en-US" dirty="0">
                <a:hlinkClick r:id="rId3" action="ppaction://hlinksldjump"/>
              </a:rPr>
              <a:t>categories</a:t>
            </a:r>
            <a:r>
              <a:rPr lang="en-US" dirty="0"/>
              <a:t>, announce the scholarships and show highlights from the stream feedback  </a:t>
            </a:r>
          </a:p>
          <a:p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2E449C6F-6E51-1090-30F1-5A6D92E8CF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49302408"/>
                  </p:ext>
                </p:extLst>
              </p:nvPr>
            </p:nvGraphicFramePr>
            <p:xfrm>
              <a:off x="10278129" y="1120671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2E449C6F-6E51-1090-30F1-5A6D92E8CF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78129" y="1120671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6964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5B15-F19E-2D86-BD5E-A3E0FFAD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Judging Criteria &amp; Rubric (not made yet)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E6E26-B512-92B0-C6B6-4DBB2BFE7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Alfred Measure</a:t>
            </a:r>
          </a:p>
          <a:p>
            <a:pPr lvl="1"/>
            <a:r>
              <a:rPr lang="en-US" dirty="0"/>
              <a:t>How was technology leveraged in the project?</a:t>
            </a:r>
          </a:p>
          <a:p>
            <a:pPr lvl="1"/>
            <a:r>
              <a:rPr lang="en-US" dirty="0"/>
              <a:t>Does it create a new and interesting use of game mechanics, inputs, or new technology</a:t>
            </a:r>
          </a:p>
          <a:p>
            <a:pPr lvl="1"/>
            <a:r>
              <a:rPr lang="en-US" dirty="0"/>
              <a:t>Is the tech/game easy to use and navigate?</a:t>
            </a:r>
          </a:p>
          <a:p>
            <a:pPr lvl="1"/>
            <a:r>
              <a:rPr lang="en-US" dirty="0"/>
              <a:t>Does it provide some kind of “magical moment” for players?</a:t>
            </a:r>
          </a:p>
          <a:p>
            <a:r>
              <a:rPr lang="en-US" dirty="0"/>
              <a:t>Jessie Measure</a:t>
            </a:r>
          </a:p>
          <a:p>
            <a:pPr lvl="1"/>
            <a:r>
              <a:rPr lang="en-US" dirty="0"/>
              <a:t>What educational aspects were used within the game?</a:t>
            </a:r>
          </a:p>
          <a:p>
            <a:pPr lvl="1"/>
            <a:r>
              <a:rPr lang="en-US" dirty="0"/>
              <a:t>Did the educational aspects flow naturally within the game?</a:t>
            </a:r>
          </a:p>
          <a:p>
            <a:pPr lvl="1"/>
            <a:r>
              <a:rPr lang="en-US" dirty="0"/>
              <a:t>Did the materials used for education mesh well with the theme and requirements of the game?</a:t>
            </a:r>
          </a:p>
          <a:p>
            <a:r>
              <a:rPr lang="en-US" dirty="0"/>
              <a:t>Alicia Measure</a:t>
            </a:r>
          </a:p>
          <a:p>
            <a:pPr lvl="1"/>
            <a:r>
              <a:rPr lang="en-US" dirty="0"/>
              <a:t>Was it aesthetically pleasing to play the game?</a:t>
            </a:r>
          </a:p>
          <a:p>
            <a:pPr lvl="1"/>
            <a:r>
              <a:rPr lang="en-US" dirty="0"/>
              <a:t>Does the game “feel” matched to the theme and mechanics of the game?</a:t>
            </a:r>
          </a:p>
          <a:p>
            <a:pPr lvl="1"/>
            <a:r>
              <a:rPr lang="en-US" dirty="0"/>
              <a:t>Were there elements of the game that were eye-catching and fun to interact with?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5E53CDD7-D0FB-509E-63EB-32DB90DD930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35439204"/>
                  </p:ext>
                </p:extLst>
              </p:nvPr>
            </p:nvGraphicFramePr>
            <p:xfrm>
              <a:off x="10384147" y="5862076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5E53CDD7-D0FB-509E-63EB-32DB90DD93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84147" y="5862076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5900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80E8-9C8A-6B21-2BC3-0B1815AD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rest day, Judges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9F51B-30F0-077D-49E0-A74E5F212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/>
              </a:rPr>
              <a:t>Judges</a:t>
            </a:r>
            <a:r>
              <a:rPr lang="en-US" dirty="0"/>
              <a:t> go through all of the submitted materials for completeness and immediately contact team lead if there are issues.</a:t>
            </a:r>
          </a:p>
          <a:p>
            <a:r>
              <a:rPr lang="en-US" dirty="0"/>
              <a:t>Each game submitted gets evaluated by </a:t>
            </a:r>
            <a:r>
              <a:rPr lang="en-US" dirty="0">
                <a:hlinkClick r:id="rId2" action="ppaction://hlinksldjump"/>
              </a:rPr>
              <a:t>judges</a:t>
            </a:r>
            <a:r>
              <a:rPr lang="en-US" dirty="0"/>
              <a:t> with the rubric provided</a:t>
            </a:r>
          </a:p>
          <a:p>
            <a:r>
              <a:rPr lang="en-US" dirty="0"/>
              <a:t>Judges </a:t>
            </a:r>
            <a:r>
              <a:rPr lang="en-US" dirty="0">
                <a:hlinkClick r:id="rId3" action="ppaction://hlinksldjump"/>
              </a:rPr>
              <a:t>award the winner also get to award </a:t>
            </a:r>
            <a:r>
              <a:rPr lang="en-US" dirty="0"/>
              <a:t>the Minors (Mummy, Yip, Monty, etc.).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0E51E217-86A8-6741-4416-86488C04801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1307349"/>
                  </p:ext>
                </p:extLst>
              </p:nvPr>
            </p:nvGraphicFramePr>
            <p:xfrm>
              <a:off x="10264877" y="231213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0E51E217-86A8-6741-4416-86488C0480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64877" y="231213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428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E072-4377-EC80-2317-B3DC9370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948CC-DC48-18C1-18CF-CC012B810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include a panel of patients (present &amp; former) to give specific insight on how their situations and needs around gaming were met or identified while here.</a:t>
            </a:r>
          </a:p>
          <a:p>
            <a:r>
              <a:rPr lang="en-US" dirty="0"/>
              <a:t>Any appropriate patient will be allowed to play and participate in Day 3 &amp; 4 for judging and feedback</a:t>
            </a:r>
          </a:p>
          <a:p>
            <a:r>
              <a:rPr lang="en-US" dirty="0"/>
              <a:t>TAC can also play a part in the Theme development and requirements</a:t>
            </a:r>
          </a:p>
          <a:p>
            <a:r>
              <a:rPr lang="en-US" dirty="0"/>
              <a:t>Patient video interviews and zoom meetings can be facilitated for questions from Teams</a:t>
            </a:r>
          </a:p>
        </p:txBody>
      </p:sp>
    </p:spTree>
    <p:extLst>
      <p:ext uri="{BB962C8B-B14F-4D97-AF65-F5344CB8AC3E}">
        <p14:creationId xmlns:p14="http://schemas.microsoft.com/office/powerpoint/2010/main" val="3504726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376E2-59DC-200D-900C-EC737DC4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Requirements (may change each year)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808A9-D903-F8C8-5720-84C0D98C0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Menu system capable of getting the player into and out of the game play</a:t>
            </a:r>
          </a:p>
          <a:p>
            <a:r>
              <a:rPr lang="en-US" dirty="0"/>
              <a:t>Music &amp; Sound effects throughout</a:t>
            </a:r>
          </a:p>
          <a:p>
            <a:r>
              <a:rPr lang="en-US" dirty="0"/>
              <a:t>Total play time must be between 3 and 10 minutes </a:t>
            </a:r>
          </a:p>
          <a:p>
            <a:pPr lvl="1"/>
            <a:r>
              <a:rPr lang="en-US" dirty="0"/>
              <a:t>Levels can vary</a:t>
            </a:r>
          </a:p>
          <a:p>
            <a:r>
              <a:rPr lang="en-US" dirty="0"/>
              <a:t>Must be playable on Windows or Web</a:t>
            </a:r>
          </a:p>
          <a:p>
            <a:r>
              <a:rPr lang="en-US" dirty="0"/>
              <a:t>Utilize Xbox controllers, added bonus for thoughts on adaptive controls.</a:t>
            </a:r>
          </a:p>
          <a:p>
            <a:r>
              <a:rPr lang="en-US" dirty="0"/>
              <a:t>Must incorporate the Estate Elements and be conscientious of Judging Criteria</a:t>
            </a:r>
          </a:p>
          <a:p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11BBD47F-631A-E316-8D50-5599A29C54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65468539"/>
                  </p:ext>
                </p:extLst>
              </p:nvPr>
            </p:nvGraphicFramePr>
            <p:xfrm>
              <a:off x="10554113" y="5897267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11BBD47F-631A-E316-8D50-5599A29C54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54113" y="5897267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1840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6259F-ADAC-7E46-BC8E-0DC96F749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37F8-C710-057F-C715-E3F766BBF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One Theme Word – for example: “Distraction” this must be demonstrated within the game through mechanics or art assets or some unique method.</a:t>
            </a:r>
          </a:p>
          <a:p>
            <a:r>
              <a:rPr lang="en-US" dirty="0"/>
              <a:t>2 physical objects from the Estate that must be in the game</a:t>
            </a:r>
          </a:p>
          <a:p>
            <a:r>
              <a:rPr lang="en-US" dirty="0"/>
              <a:t>1 educational aspect from the estate (for example: How the water pumps work at the estate)</a:t>
            </a:r>
          </a:p>
          <a:p>
            <a:r>
              <a:rPr lang="en-US" dirty="0"/>
              <a:t>1 Historical context from the 2 physical objects</a:t>
            </a:r>
          </a:p>
          <a:p>
            <a:r>
              <a:rPr lang="en-US" dirty="0"/>
              <a:t>Sample tune or piece of music from Alfred’s collection</a:t>
            </a:r>
          </a:p>
          <a:p>
            <a:r>
              <a:rPr lang="en-US" dirty="0"/>
              <a:t>2D or 3D?</a:t>
            </a:r>
          </a:p>
          <a:p>
            <a:r>
              <a:rPr lang="en-US" dirty="0"/>
              <a:t>Aesthetics are completely up to team if it fits Theme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86BCF615-BF52-2C65-605B-AED3B9C788A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1307349"/>
                  </p:ext>
                </p:extLst>
              </p:nvPr>
            </p:nvGraphicFramePr>
            <p:xfrm>
              <a:off x="10264877" y="231213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86BCF615-BF52-2C65-605B-AED3B9C788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64877" y="231213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6048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C1AB-D2C7-37C0-4CE4-1E347D2F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in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76AE-2D0D-E8AF-C9E6-3F6085444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Over the 3 days, there will be two check in sessions each day for a total of 6 check ins. </a:t>
            </a:r>
          </a:p>
          <a:p>
            <a:r>
              <a:rPr lang="en-US" dirty="0"/>
              <a:t>Each Check in session will be evaluated for ranking for each of the 3 competitive days of building </a:t>
            </a:r>
          </a:p>
          <a:p>
            <a:pPr lvl="1"/>
            <a:r>
              <a:rPr lang="en-US" dirty="0"/>
              <a:t>Day 1 (2 check in times, 12pm, 4pm)</a:t>
            </a:r>
          </a:p>
          <a:p>
            <a:pPr lvl="2"/>
            <a:r>
              <a:rPr lang="en-US" dirty="0"/>
              <a:t>Game Design Document DRAFT</a:t>
            </a:r>
          </a:p>
          <a:p>
            <a:pPr lvl="2"/>
            <a:r>
              <a:rPr lang="en-US" dirty="0"/>
              <a:t>Team Assignments of roles, team name</a:t>
            </a:r>
          </a:p>
          <a:p>
            <a:pPr lvl="2"/>
            <a:r>
              <a:rPr lang="en-US" dirty="0"/>
              <a:t>Vision/Theme Board completed</a:t>
            </a:r>
          </a:p>
          <a:p>
            <a:pPr lvl="1"/>
            <a:r>
              <a:rPr lang="en-US" dirty="0"/>
              <a:t>Day 2 (2 check in times, 12pm, 4pm)</a:t>
            </a:r>
          </a:p>
          <a:p>
            <a:pPr lvl="2"/>
            <a:r>
              <a:rPr lang="en-US" dirty="0"/>
              <a:t>Complete Assets list of every script, file, document up to this point</a:t>
            </a:r>
          </a:p>
          <a:p>
            <a:pPr lvl="2"/>
            <a:r>
              <a:rPr lang="en-US" dirty="0"/>
              <a:t>Game project started and back up schedule/method shown</a:t>
            </a:r>
          </a:p>
          <a:p>
            <a:pPr lvl="2"/>
            <a:r>
              <a:rPr lang="en-US" dirty="0"/>
              <a:t>Lunch time check in – General Health of the team checked</a:t>
            </a:r>
          </a:p>
          <a:p>
            <a:pPr lvl="1"/>
            <a:r>
              <a:rPr lang="en-US" dirty="0"/>
              <a:t>Day 3 (2 check in times, 11am, 3pm)</a:t>
            </a:r>
          </a:p>
          <a:p>
            <a:pPr lvl="2"/>
            <a:r>
              <a:rPr lang="en-US" dirty="0"/>
              <a:t>Demo Check in must have some level of functional game with menu working 50%</a:t>
            </a:r>
          </a:p>
          <a:p>
            <a:pPr lvl="2"/>
            <a:r>
              <a:rPr lang="en-US" dirty="0"/>
              <a:t>Back up of project for 3pm</a:t>
            </a:r>
          </a:p>
          <a:p>
            <a:pPr lvl="2"/>
            <a:r>
              <a:rPr lang="en-US" dirty="0"/>
              <a:t>Lunch time check in – General Health of the team checked</a:t>
            </a:r>
          </a:p>
          <a:p>
            <a:pPr lvl="2"/>
            <a:r>
              <a:rPr lang="en-US" dirty="0"/>
              <a:t>FINAL SUBMISSION CHECK IN – 5pm</a:t>
            </a:r>
          </a:p>
          <a:p>
            <a:pPr lvl="3"/>
            <a:r>
              <a:rPr lang="en-US" dirty="0"/>
              <a:t>A Final Build, all assets, projects, and documentation must be brought to Judges station via provided hard drive</a:t>
            </a:r>
          </a:p>
          <a:p>
            <a:pPr lvl="3"/>
            <a:r>
              <a:rPr lang="en-US" dirty="0"/>
              <a:t>Judges submit all check in paperwork in preparation for 4</a:t>
            </a:r>
            <a:r>
              <a:rPr lang="en-US" baseline="30000" dirty="0"/>
              <a:t>th</a:t>
            </a:r>
            <a:r>
              <a:rPr lang="en-US" dirty="0"/>
              <a:t> day for judging and play throughs.</a:t>
            </a:r>
          </a:p>
          <a:p>
            <a:pPr lvl="2"/>
            <a:endParaRPr lang="en-US" dirty="0"/>
          </a:p>
          <a:p>
            <a:r>
              <a:rPr lang="en-US" dirty="0"/>
              <a:t>Fundraising check in – </a:t>
            </a:r>
            <a:r>
              <a:rPr lang="en-US"/>
              <a:t>each team needs </a:t>
            </a:r>
            <a:r>
              <a:rPr lang="en-US" dirty="0"/>
              <a:t>to raise at least $200 by end of the Event</a:t>
            </a:r>
          </a:p>
          <a:p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91F52123-1C22-90A0-C727-1CCFCD475A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1307349"/>
                  </p:ext>
                </p:extLst>
              </p:nvPr>
            </p:nvGraphicFramePr>
            <p:xfrm>
              <a:off x="10264877" y="231213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91F52123-1C22-90A0-C727-1CCFCD475A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4877" y="231213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7815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4699-B65A-4DB7-5F41-F2E823AB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92320-742A-82D0-5B89-089E153E1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Mummy Award for most done in a single day</a:t>
            </a:r>
          </a:p>
          <a:p>
            <a:r>
              <a:rPr lang="en-US" dirty="0"/>
              <a:t>Yip Award for highest number of assets created in a single day</a:t>
            </a:r>
          </a:p>
          <a:p>
            <a:r>
              <a:rPr lang="en-US" dirty="0"/>
              <a:t>Monty Award for most aligned Estate Assets (Accuracy of date and visual representation of an object)</a:t>
            </a:r>
          </a:p>
          <a:p>
            <a:r>
              <a:rPr lang="en-US" dirty="0"/>
              <a:t>Patients Pick Award – Wins Scholarship</a:t>
            </a:r>
          </a:p>
          <a:p>
            <a:r>
              <a:rPr lang="en-US" dirty="0" err="1"/>
              <a:t>Tankopanometer</a:t>
            </a:r>
            <a:r>
              <a:rPr lang="en-US" dirty="0"/>
              <a:t> Award for best music</a:t>
            </a:r>
          </a:p>
          <a:p>
            <a:r>
              <a:rPr lang="en-US" dirty="0"/>
              <a:t>Alfred Award for most Techy Game (highest criteria from Rubric)</a:t>
            </a:r>
          </a:p>
          <a:p>
            <a:r>
              <a:rPr lang="en-US" dirty="0"/>
              <a:t>Jessie Award for most Educational Game (highest criteria from Rubric)</a:t>
            </a:r>
          </a:p>
          <a:p>
            <a:r>
              <a:rPr lang="en-US" dirty="0"/>
              <a:t>Alicia Award for best Designed Game(highest criteria from Rubric)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013F0136-AFA5-8DE1-692C-0BEACFD65F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1307349"/>
                  </p:ext>
                </p:extLst>
              </p:nvPr>
            </p:nvGraphicFramePr>
            <p:xfrm>
              <a:off x="10264877" y="231213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013F0136-AFA5-8DE1-692C-0BEACFD65F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4877" y="231213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7686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EBA0-8F64-17F7-F5B8-B34BB9DF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Judge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4818A-7AC8-34B7-CDAF-E2FC9D77A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Estate familiarity</a:t>
            </a:r>
          </a:p>
          <a:p>
            <a:r>
              <a:rPr lang="en-US" dirty="0"/>
              <a:t>Content familiarity</a:t>
            </a:r>
          </a:p>
          <a:p>
            <a:r>
              <a:rPr lang="en-US" dirty="0"/>
              <a:t>Game related industry</a:t>
            </a:r>
          </a:p>
          <a:p>
            <a:endParaRPr lang="en-US" dirty="0"/>
          </a:p>
          <a:p>
            <a:r>
              <a:rPr lang="en-US" dirty="0"/>
              <a:t>Can be one or all three of those metrics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BE493E32-FFFF-6D5B-E73A-F9E7AE9E309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1307349"/>
                  </p:ext>
                </p:extLst>
              </p:nvPr>
            </p:nvGraphicFramePr>
            <p:xfrm>
              <a:off x="10264877" y="231213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BE493E32-FFFF-6D5B-E73A-F9E7AE9E30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4877" y="231213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7589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A754-0EB8-7528-CCC6-0FD1188E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 and 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EF4C8-7DA0-55D1-2A86-228F91B7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Students</a:t>
            </a:r>
          </a:p>
          <a:p>
            <a:pPr lvl="1"/>
            <a:r>
              <a:rPr lang="en-US" dirty="0"/>
              <a:t>Resume builder</a:t>
            </a:r>
          </a:p>
          <a:p>
            <a:pPr lvl="1"/>
            <a:r>
              <a:rPr lang="en-US" dirty="0"/>
              <a:t>Scholarship</a:t>
            </a:r>
          </a:p>
          <a:p>
            <a:pPr lvl="1"/>
            <a:r>
              <a:rPr lang="en-US" dirty="0"/>
              <a:t>Experience</a:t>
            </a:r>
          </a:p>
          <a:p>
            <a:r>
              <a:rPr lang="en-US" dirty="0"/>
              <a:t>Hospital Patients</a:t>
            </a:r>
          </a:p>
          <a:p>
            <a:pPr lvl="1"/>
            <a:r>
              <a:rPr lang="en-US" dirty="0"/>
              <a:t>Distraction through gameplay and event</a:t>
            </a:r>
          </a:p>
          <a:p>
            <a:pPr lvl="1"/>
            <a:r>
              <a:rPr lang="en-US" dirty="0"/>
              <a:t>Participation in judging</a:t>
            </a:r>
          </a:p>
          <a:p>
            <a:pPr lvl="1"/>
            <a:r>
              <a:rPr lang="en-US" dirty="0"/>
              <a:t>Connection to Content Creators and folks they may already be watching on Twitch and YouTube</a:t>
            </a:r>
          </a:p>
          <a:p>
            <a:r>
              <a:rPr lang="en-US" dirty="0"/>
              <a:t>Nemours </a:t>
            </a:r>
          </a:p>
          <a:p>
            <a:pPr lvl="1"/>
            <a:r>
              <a:rPr lang="en-US" dirty="0"/>
              <a:t>Newsworthy story</a:t>
            </a:r>
          </a:p>
          <a:p>
            <a:pPr lvl="1"/>
            <a:r>
              <a:rPr lang="en-US" dirty="0"/>
              <a:t>Further deepens relationship between Estate and patients (Founders mission)</a:t>
            </a:r>
          </a:p>
          <a:p>
            <a:pPr lvl="1"/>
            <a:r>
              <a:rPr lang="en-US" dirty="0"/>
              <a:t>Board mandate of bringing Education, Gaming, and who and what we are together in one event.</a:t>
            </a:r>
          </a:p>
          <a:p>
            <a:pPr lvl="1"/>
            <a:r>
              <a:rPr lang="en-US" dirty="0"/>
              <a:t>First of its kind in terms of events and benefits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363D7CCF-9A5D-8CF0-31A1-30E0D39597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1307349"/>
                  </p:ext>
                </p:extLst>
              </p:nvPr>
            </p:nvGraphicFramePr>
            <p:xfrm>
              <a:off x="10264877" y="231213"/>
              <a:ext cx="1599374" cy="899648"/>
            </p:xfrm>
            <a:graphic>
              <a:graphicData uri="http://schemas.microsoft.com/office/powerpoint/2016/slidezoom">
                <pslz:sldZm>
                  <pslz:sldZmObj sldId="273" cId="642367146">
                    <pslz:zmPr id="{995E2F88-2A05-4458-BA33-AF5CBD49527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9374" cy="899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363D7CCF-9A5D-8CF0-31A1-30E0D39597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4877" y="231213"/>
                <a:ext cx="1599374" cy="899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6904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AD8A-4EDC-3EC3-ECC6-62243A6EEE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Alfred – the Original AI</a:t>
            </a:r>
          </a:p>
          <a:p>
            <a:r>
              <a:rPr lang="en-US" sz="1600" dirty="0"/>
              <a:t>(</a:t>
            </a:r>
            <a:r>
              <a:rPr lang="en-US" sz="2000" dirty="0"/>
              <a:t>Copilot AI spelled his name incorrectly)</a:t>
            </a:r>
          </a:p>
        </p:txBody>
      </p:sp>
      <p:pic>
        <p:nvPicPr>
          <p:cNvPr id="4" name="Picture 3" descr="A logo of a person with a circuit board&#10;&#10;Description automatically generated">
            <a:extLst>
              <a:ext uri="{FF2B5EF4-FFF2-40B4-BE49-F238E27FC236}">
                <a16:creationId xmlns:a16="http://schemas.microsoft.com/office/drawing/2014/main" id="{0079C3D0-C735-8722-CC00-C9C681D61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867" y="1919235"/>
            <a:ext cx="2723103" cy="27231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D11D00-D946-24AD-0830-08656BDDF4E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223" b="-3223"/>
          <a:stretch/>
        </p:blipFill>
        <p:spPr>
          <a:xfrm>
            <a:off x="4650565" y="1828800"/>
            <a:ext cx="5497969" cy="428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86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nko">
      <a:dk1>
        <a:srgbClr val="061833"/>
      </a:dk1>
      <a:lt1>
        <a:srgbClr val="ECE7C4"/>
      </a:lt1>
      <a:dk2>
        <a:srgbClr val="061833"/>
      </a:dk2>
      <a:lt2>
        <a:srgbClr val="ECE7C4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anko">
      <a:majorFont>
        <a:latin typeface="Berlin Sans FB Demi"/>
        <a:ea typeface=""/>
        <a:cs typeface=""/>
      </a:majorFont>
      <a:minorFont>
        <a:latin typeface="Berlin Sans F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1912</Words>
  <Application>Microsoft Office PowerPoint</Application>
  <PresentationFormat>Widescreen</PresentationFormat>
  <Paragraphs>186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Berlin Sans FB</vt:lpstr>
      <vt:lpstr>Berlin Sans FB Demi</vt:lpstr>
      <vt:lpstr>Georgia Pro</vt:lpstr>
      <vt:lpstr>Office Theme</vt:lpstr>
      <vt:lpstr>TankopaniJam  (aka Nemours Game Jam)</vt:lpstr>
      <vt:lpstr>Table of Contents – click on each to go to that slide, image at top will bring you back here. Also, some key words are hyperlinked to their description slide</vt:lpstr>
      <vt:lpstr>Tankopanijam  (aka Nemours Game Jam)</vt:lpstr>
      <vt:lpstr>Tankopanijam  (aka Nemours Game Jam)</vt:lpstr>
      <vt:lpstr>Who</vt:lpstr>
      <vt:lpstr>Participation requirements </vt:lpstr>
      <vt:lpstr>When - 3 days build, 1 day of rest/testing, 1 Release Day </vt:lpstr>
      <vt:lpstr>When - 3 days build, 1 day of rest/testing, 1 Release Day </vt:lpstr>
      <vt:lpstr>Judging Criteria &amp; Rubric (not made yet)</vt:lpstr>
      <vt:lpstr>On rest day, Judges work</vt:lpstr>
      <vt:lpstr>Patients</vt:lpstr>
      <vt:lpstr>Game Requirements (may change each year)</vt:lpstr>
      <vt:lpstr>Theme</vt:lpstr>
      <vt:lpstr>Check in Sessions</vt:lpstr>
      <vt:lpstr>Awards</vt:lpstr>
      <vt:lpstr>Judge requirements</vt:lpstr>
      <vt:lpstr>Outcomes and ROI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TankopaniJam  (aka Nemours Game Jam)</dc:title>
  <dc:creator>Shaw, Scott</dc:creator>
  <cp:lastModifiedBy>Shaw, Scott</cp:lastModifiedBy>
  <cp:revision>7</cp:revision>
  <dcterms:created xsi:type="dcterms:W3CDTF">2024-10-21T14:55:41Z</dcterms:created>
  <dcterms:modified xsi:type="dcterms:W3CDTF">2026-06-02T14:22:20Z</dcterms:modified>
</cp:coreProperties>
</file>